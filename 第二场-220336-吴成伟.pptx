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1" r:id="rId4"/>
    <p:sldId id="266" r:id="rId5"/>
    <p:sldId id="292" r:id="rId6"/>
    <p:sldId id="285" r:id="rId7"/>
    <p:sldId id="269" r:id="rId8"/>
    <p:sldId id="293" r:id="rId9"/>
    <p:sldId id="290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869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EIII JOB BAND 答辩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220336-吴成伟 SS-Alpha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29765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2026.3</a:t>
            </a:r>
            <a:endParaRPr lang="en-US" sz="12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DC45D65-E997-1E0A-2EF2-FAA6BCE0A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8007" y="54486"/>
            <a:ext cx="958214" cy="53871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76A33A5-AB8C-0C0D-2681-2BAAD1E50A16}"/>
              </a:ext>
            </a:extLst>
          </p:cNvPr>
          <p:cNvSpPr txBox="1"/>
          <p:nvPr/>
        </p:nvSpPr>
        <p:spPr>
          <a:xfrm>
            <a:off x="6770108" y="4741218"/>
            <a:ext cx="3718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Information Classification: Limited Access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292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820" r="820"/>
          <a:stretch/>
        </p:blipFill>
        <p:spPr>
          <a:xfrm>
            <a:off x="0" y="0"/>
            <a:ext cx="9144000" cy="522922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" y="1323975"/>
            <a:ext cx="8382000" cy="36099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43088" y="1409700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5A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1162050" y="1800225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平台定位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162050" y="2090738"/>
            <a:ext cx="162877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CLR是数据中转核心平台，承担关键数据集成角色。负责多Vendor数据的统一接入与分发。确保系统间高效协同。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3624262" y="1409700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D8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2943225" y="1800225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943225" y="2090738"/>
            <a:ext cx="162877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基于SpringBoot构建后端服务，使用SQL </a:t>
            </a: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Server存储数据。结合Kafka+Redis实现异步消息传输。保障高并发与低延迟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405438" y="1409700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5A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724400" y="1800225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724400" y="2090738"/>
            <a:ext cx="162877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从多个Vendor实时采集价格数据。支持多种接入协议与格式。确保源头数据完整性。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7186613" y="1409700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D8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05575" y="1800225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505575" y="2090738"/>
            <a:ext cx="162877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对原始数据进行过滤、转换与清洗。消除异常值与重复项。提升数据质量与一致性。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7186613" y="3300413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5A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05575" y="3690938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路由分发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505575" y="3981450"/>
            <a:ext cx="162877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根据规则将处理后数据路由至EPW系统。支持动态配置分发策略。保证数据精准投递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405438" y="3300413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D8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724400" y="3690938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系统协同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724400" y="3981450"/>
            <a:ext cx="162877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与MDW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</a:t>
            </a: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系统（ASP.NET）协同运行。实现主备流程互补。增强整体系统可靠性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3624262" y="3300413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5A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2943225" y="3690938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数据可靠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2943225" y="3981450"/>
            <a:ext cx="162877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确保数据传输准确、及时、可靠。具备失败重试与补偿机制。支持端到端状态追踪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1843088" y="3300413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D8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162050" y="3690938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闭环管理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1162050" y="3981450"/>
            <a:ext cx="162877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实现从采集到落地的端到端闭环链路。全程可监控、可审计。保障业务连续性与稳定性。</a:t>
            </a:r>
            <a:endParaRPr lang="en-US" sz="1050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843769CF-0E11-F93B-7376-4B099C6FCF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2429" y="80411"/>
            <a:ext cx="958214" cy="538714"/>
          </a:xfrm>
          <a:prstGeom prst="rect">
            <a:avLst/>
          </a:prstGeom>
        </p:spPr>
      </p:pic>
      <p:sp>
        <p:nvSpPr>
          <p:cNvPr id="36" name="Text 0">
            <a:extLst>
              <a:ext uri="{FF2B5EF4-FFF2-40B4-BE49-F238E27FC236}">
                <a16:creationId xmlns:a16="http://schemas.microsoft.com/office/drawing/2014/main" id="{E866877E-F934-66A3-6ADF-2269243DA2E3}"/>
              </a:ext>
            </a:extLst>
          </p:cNvPr>
          <p:cNvSpPr/>
          <p:nvPr/>
        </p:nvSpPr>
        <p:spPr>
          <a:xfrm>
            <a:off x="571500" y="462562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CLR</a:t>
            </a: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为主 </a:t>
            </a:r>
            <a:r>
              <a:rPr lang="en-US" altLang="zh-CN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MDW</a:t>
            </a: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为次</a:t>
            </a:r>
            <a:endParaRPr lang="en-US" sz="12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ED39765-4006-E422-2B05-87BCA3BCE017}"/>
              </a:ext>
            </a:extLst>
          </p:cNvPr>
          <p:cNvSpPr txBox="1"/>
          <p:nvPr/>
        </p:nvSpPr>
        <p:spPr>
          <a:xfrm>
            <a:off x="6887673" y="4856634"/>
            <a:ext cx="3718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Information Classification: Limited Access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130254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137398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架构能力</a:t>
            </a:r>
            <a:endParaRPr lang="en-US" altLang="zh-CN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162163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43625" y="130254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6610350" y="137398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altLang="zh-CN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高质量交付的实践路径</a:t>
            </a:r>
            <a:endParaRPr lang="en-US" altLang="zh-CN" sz="1200" dirty="0"/>
          </a:p>
        </p:txBody>
      </p:sp>
      <p:sp>
        <p:nvSpPr>
          <p:cNvPr id="11" name="Text 8"/>
          <p:cNvSpPr/>
          <p:nvPr/>
        </p:nvSpPr>
        <p:spPr>
          <a:xfrm>
            <a:off x="6610350" y="162163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193119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00263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altLang="zh-CN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工具创新与效能提升</a:t>
            </a:r>
            <a:endParaRPr lang="en-US" altLang="zh-CN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25028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43625" y="193119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6610350" y="200263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技术好奇心驱动持续进化</a:t>
            </a:r>
            <a:endParaRPr lang="en-US" altLang="zh-CN" sz="1200" dirty="0"/>
          </a:p>
        </p:txBody>
      </p:sp>
      <p:sp>
        <p:nvSpPr>
          <p:cNvPr id="17" name="Text 14"/>
          <p:cNvSpPr/>
          <p:nvPr/>
        </p:nvSpPr>
        <p:spPr>
          <a:xfrm>
            <a:off x="6610350" y="225028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263128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altLang="zh-CN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总结与未来展望</a:t>
            </a:r>
            <a:endParaRPr lang="en-US" altLang="zh-CN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287893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610350" y="263128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endParaRPr lang="en-US" altLang="zh-CN" sz="1200" dirty="0"/>
          </a:p>
        </p:txBody>
      </p:sp>
      <p:sp>
        <p:nvSpPr>
          <p:cNvPr id="23" name="Text 20"/>
          <p:cNvSpPr/>
          <p:nvPr/>
        </p:nvSpPr>
        <p:spPr>
          <a:xfrm>
            <a:off x="6610350" y="287893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990975" y="350758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3123788-AAAC-48FC-1BE1-BE7800272604}"/>
              </a:ext>
            </a:extLst>
          </p:cNvPr>
          <p:cNvSpPr txBox="1"/>
          <p:nvPr/>
        </p:nvSpPr>
        <p:spPr>
          <a:xfrm>
            <a:off x="6917064" y="4742334"/>
            <a:ext cx="3718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Information Classification: Limited Access</a:t>
            </a:r>
            <a:endParaRPr lang="zh-CN" altLang="en-US" sz="9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0F799A7C-8466-F272-FC71-B52EDEE0D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429" y="80411"/>
            <a:ext cx="958214" cy="5387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530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957" r="1957"/>
          <a:stretch/>
        </p:blipFill>
        <p:spPr>
          <a:xfrm>
            <a:off x="0" y="0"/>
            <a:ext cx="9144000" cy="53530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3901" y="295275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150"/>
              </a:lnSpc>
            </a:pP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架构能力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000" y="1238250"/>
            <a:ext cx="8382000" cy="3733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29088" y="3062288"/>
            <a:ext cx="885825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95A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2476500" y="1362075"/>
            <a:ext cx="9525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AD8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抽象核心逻辑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81000" y="1733550"/>
            <a:ext cx="263366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latinLnBrk="1"/>
            <a:r>
              <a:rPr lang="zh-CN" alt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原始需求：多个供应商推送价格，多个下游查询价格</a:t>
            </a:r>
          </a:p>
        </p:txBody>
      </p:sp>
      <p:sp>
        <p:nvSpPr>
          <p:cNvPr id="11" name="Text 6"/>
          <p:cNvSpPr/>
          <p:nvPr/>
        </p:nvSpPr>
        <p:spPr>
          <a:xfrm>
            <a:off x="483326" y="2200274"/>
            <a:ext cx="2531338" cy="4476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latinLnBrk="1"/>
            <a:r>
              <a:rPr lang="zh-CN" alt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业务本质：价格数据的「接入 → 计算 → 存储 → 分发」</a:t>
            </a:r>
          </a:p>
        </p:txBody>
      </p:sp>
      <p:sp>
        <p:nvSpPr>
          <p:cNvPr id="12" name="Text 7"/>
          <p:cNvSpPr/>
          <p:nvPr/>
        </p:nvSpPr>
        <p:spPr>
          <a:xfrm>
            <a:off x="2476500" y="2819400"/>
            <a:ext cx="9525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95A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技术选型策略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19100" y="3190875"/>
            <a:ext cx="259556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适配业务，权衡成本</a:t>
            </a:r>
            <a:endParaRPr lang="en-US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19100" y="3648075"/>
            <a:ext cx="2595563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痛点驱动选型，成本收益权衡</a:t>
            </a:r>
            <a:endParaRPr lang="en-US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2476500" y="4067175"/>
            <a:ext cx="9525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AD8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可扩展性保障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19100" y="4438650"/>
            <a:ext cx="2595563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模块化设计，接口标准化</a:t>
            </a:r>
            <a:endParaRPr lang="en-US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19100" y="4686300"/>
            <a:ext cx="2595563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1650"/>
              </a:lnSpc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配置化设计，契约标准化</a:t>
            </a:r>
            <a:endParaRPr lang="en-US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076950" y="1466850"/>
            <a:ext cx="9525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95A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系统可维护性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29338" y="1838325"/>
            <a:ext cx="2595563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代码结构清晰，降低后期维护的认知负担。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129338" y="2085975"/>
            <a:ext cx="2595563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文档与架构同步更新，确保知识持续沉淀。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076950" y="2505075"/>
            <a:ext cx="8477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AD8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性能可靠性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129338" y="2876550"/>
            <a:ext cx="2595563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高并发稳定，多级缓存加速</a:t>
            </a:r>
            <a:endParaRPr lang="en-US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6129338" y="3124200"/>
            <a:ext cx="259556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通过容错机制提升系统在异常下的恢复能力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076950" y="3752850"/>
            <a:ext cx="9525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95A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开发效率平衡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129338" y="4124325"/>
            <a:ext cx="259556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采用自动化工具链减少重复劳动，加快交付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129338" y="4581525"/>
            <a:ext cx="2595563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框架封装通用能力，提升团队协作效率</a:t>
            </a:r>
            <a:endParaRPr lang="en-US" sz="105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57908D01-587F-5357-8C1B-AC514DBEC53B}"/>
              </a:ext>
            </a:extLst>
          </p:cNvPr>
          <p:cNvSpPr/>
          <p:nvPr/>
        </p:nvSpPr>
        <p:spPr>
          <a:xfrm>
            <a:off x="338637" y="330212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83AAA6C1-0194-3328-FB5D-99810E3F50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2429" y="80411"/>
            <a:ext cx="958214" cy="538714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879B51B0-2002-1F20-9587-5D8793F897F6}"/>
              </a:ext>
            </a:extLst>
          </p:cNvPr>
          <p:cNvSpPr txBox="1"/>
          <p:nvPr/>
        </p:nvSpPr>
        <p:spPr>
          <a:xfrm>
            <a:off x="6773373" y="4926030"/>
            <a:ext cx="3718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Information Classification: Limited Access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3163" y="272687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r>
              <a:rPr kumimoji="0" lang="en-US" sz="22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r>
              <a:rPr kumimoji="0" lang="zh-CN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交付的实践路径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000" y="1409700"/>
            <a:ext cx="8382000" cy="23241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66888" y="1495425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95A5BD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4"/>
          <p:cNvSpPr/>
          <p:nvPr/>
        </p:nvSpPr>
        <p:spPr>
          <a:xfrm>
            <a:off x="1085850" y="1885950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+mn-cs"/>
              </a:rPr>
              <a:t>需求前置评审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5"/>
          <p:cNvSpPr/>
          <p:nvPr/>
        </p:nvSpPr>
        <p:spPr>
          <a:xfrm>
            <a:off x="1085850" y="2176463"/>
            <a:ext cx="1628775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需求文档出来后，开发、测试、产品三方评审，拉齐认知。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6"/>
          <p:cNvSpPr/>
          <p:nvPr/>
        </p:nvSpPr>
        <p:spPr>
          <a:xfrm>
            <a:off x="3548062" y="1495425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AD8E8E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7"/>
          <p:cNvSpPr/>
          <p:nvPr/>
        </p:nvSpPr>
        <p:spPr>
          <a:xfrm>
            <a:off x="2867025" y="1885950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lvl="0" algn="ctr">
              <a:lnSpc>
                <a:spcPts val="1688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时序建模</a:t>
            </a:r>
            <a:endParaRPr lang="en-US" sz="1200" b="1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2867025" y="2176463"/>
            <a:ext cx="1628775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lvl="0" algn="ctr">
              <a:lnSpc>
                <a:spcPts val="1650"/>
              </a:lnSpc>
            </a:pPr>
            <a:r>
              <a:rPr lang="zh-CN" alt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针对核心接口，绘制时序图。举异常分支</a:t>
            </a:r>
            <a:r>
              <a:rPr lang="zh-CN" alt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4" name="Text 9"/>
          <p:cNvSpPr/>
          <p:nvPr/>
        </p:nvSpPr>
        <p:spPr>
          <a:xfrm>
            <a:off x="5329238" y="1495425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95A5BD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648200" y="1885950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88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可行性评估</a:t>
            </a:r>
            <a:endParaRPr lang="en-US" sz="1200" b="1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648200" y="2176463"/>
            <a:ext cx="1628775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lvl="0" algn="ctr">
              <a:lnSpc>
                <a:spcPts val="1650"/>
              </a:lnSpc>
            </a:pPr>
            <a:r>
              <a:rPr lang="zh-CN" alt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技术可行性、部署可行性</a:t>
            </a:r>
            <a:r>
              <a:rPr lang="zh-CN" alt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7110413" y="1495425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AD8E8E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429375" y="1885950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lvl="0" algn="ctr">
              <a:lnSpc>
                <a:spcPts val="1688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编码规范与静态检查</a:t>
            </a:r>
            <a:endParaRPr lang="en-US" sz="1200" b="1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6429375" y="2176463"/>
            <a:ext cx="1628775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代码规范文档、</a:t>
            </a:r>
            <a:r>
              <a:rPr lang="en-US" altLang="zh-CN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SonarQube</a:t>
            </a:r>
            <a:r>
              <a:rPr lang="zh-CN" alt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扫描、</a:t>
            </a:r>
            <a:r>
              <a:rPr lang="en-US" altLang="zh-CN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SQL</a:t>
            </a:r>
            <a:r>
              <a:rPr lang="zh-CN" alt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语句静态审查。</a:t>
            </a:r>
            <a:endParaRPr lang="en-US" sz="90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7110413" y="2638425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95A5BD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429375" y="3028950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429375" y="3319463"/>
            <a:ext cx="1628775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lvl="0" algn="ctr">
              <a:lnSpc>
                <a:spcPts val="1650"/>
              </a:lnSpc>
            </a:pPr>
            <a:r>
              <a:rPr lang="zh-CN" alt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核心业务覆盖率</a:t>
            </a:r>
            <a:r>
              <a:rPr lang="en-US" altLang="zh-CN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&gt;80%</a:t>
            </a:r>
            <a:br>
              <a:rPr lang="en-US" altLang="zh-CN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</a:br>
            <a:r>
              <a:rPr lang="en-US" altLang="zh-CN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JUnit + Mockito + </a:t>
            </a:r>
            <a:r>
              <a:rPr lang="en-US" altLang="zh-CN" sz="90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AssertJ</a:t>
            </a:r>
            <a:r>
              <a:rPr lang="zh-CN" alt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。</a:t>
            </a:r>
            <a:endParaRPr lang="en-US" sz="90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5329238" y="2638425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AD8E8E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4648200" y="3028950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+mn-cs"/>
              </a:rPr>
              <a:t>集成测试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4648200" y="3319463"/>
            <a:ext cx="1628775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测试业务接口，生成测试文档。</a:t>
            </a:r>
            <a:endParaRPr lang="en-US" sz="90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3548062" y="2638425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95A5BD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2867025" y="3028950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CI/CD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2867025" y="3367088"/>
            <a:ext cx="1628775" cy="5667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lvl="0" algn="ctr">
              <a:lnSpc>
                <a:spcPts val="1650"/>
              </a:lnSpc>
            </a:pPr>
            <a:r>
              <a:rPr lang="en-US" altLang="zh-CN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CI: </a:t>
            </a:r>
            <a:r>
              <a:rPr lang="zh-CN" alt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自动编译、单元测试、代码扫描、打包</a:t>
            </a:r>
            <a:r>
              <a:rPr lang="en-US" altLang="zh-CN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Docker</a:t>
            </a:r>
            <a:r>
              <a:rPr lang="zh-CN" alt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镜像。</a:t>
            </a:r>
            <a:br>
              <a:rPr lang="en-US" altLang="zh-CN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</a:br>
            <a:r>
              <a:rPr lang="en-US" altLang="zh-CN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CD: </a:t>
            </a:r>
            <a:r>
              <a:rPr lang="zh-CN" alt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利用</a:t>
            </a:r>
            <a:r>
              <a:rPr lang="en-US" altLang="zh-CN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Azure DevOps</a:t>
            </a:r>
            <a:r>
              <a:rPr lang="zh-CN" alt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自动部署到</a:t>
            </a:r>
            <a:r>
              <a:rPr lang="en-US" altLang="zh-CN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AKS</a:t>
            </a:r>
            <a:r>
              <a:rPr lang="zh-CN" alt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开发环境。</a:t>
            </a:r>
            <a:endParaRPr lang="en-US" sz="80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1766888" y="2638425"/>
            <a:ext cx="266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AD8E8E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1085850" y="3028950"/>
            <a:ext cx="16287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故障测试</a:t>
            </a:r>
            <a:r>
              <a:rPr lang="en-US" altLang="zh-CN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/</a:t>
            </a: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其他测试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1085849" y="3483386"/>
            <a:ext cx="1628775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lvl="0" algn="ctr">
              <a:lnSpc>
                <a:spcPts val="1650"/>
              </a:lnSpc>
            </a:pPr>
            <a:r>
              <a:rPr lang="zh-CN" alt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模拟</a:t>
            </a:r>
            <a:r>
              <a:rPr lang="en-US" altLang="zh-CN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Pod</a:t>
            </a:r>
            <a:r>
              <a:rPr lang="zh-CN" alt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突然崩溃、节点宕机、</a:t>
            </a:r>
            <a:r>
              <a:rPr lang="en-US" altLang="zh-CN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SQL Server</a:t>
            </a:r>
            <a:r>
              <a:rPr lang="zh-CN" alt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连接中断等场景，确保生产环境遭遇真实故障时系统具备自愈能力。</a:t>
            </a:r>
            <a:endParaRPr lang="en-US" sz="80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F2DF8758-F38E-CEF9-7A00-CB828CB42A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2429" y="80411"/>
            <a:ext cx="958214" cy="538714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3BE8CA9A-9F19-3553-374D-C81036F91C22}"/>
              </a:ext>
            </a:extLst>
          </p:cNvPr>
          <p:cNvSpPr txBox="1"/>
          <p:nvPr/>
        </p:nvSpPr>
        <p:spPr>
          <a:xfrm>
            <a:off x="6903826" y="4572517"/>
            <a:ext cx="3718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Information Classification: Limited Access</a:t>
            </a:r>
            <a:endParaRPr lang="zh-CN" altLang="en-US" sz="900" dirty="0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53EC00D7-94FE-0A95-A352-F48F0D3282E1}"/>
              </a:ext>
            </a:extLst>
          </p:cNvPr>
          <p:cNvSpPr/>
          <p:nvPr/>
        </p:nvSpPr>
        <p:spPr>
          <a:xfrm>
            <a:off x="443593" y="30388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9806" y="292694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创新与效能提升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857" y="1152991"/>
            <a:ext cx="8382000" cy="3524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39407" y="2772241"/>
            <a:ext cx="10763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altLang="zh-CN" sz="1350" b="1" dirty="0" err="1">
                <a:solidFill>
                  <a:srgbClr val="95A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PriceDiff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563482" y="1295866"/>
            <a:ext cx="8477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zh-CN" altLang="en-US" sz="1200" b="1" dirty="0">
                <a:solidFill>
                  <a:srgbClr val="AD8E8E"/>
                </a:solidFill>
                <a:latin typeface="Microsoft YaHei" pitchFamily="34" charset="0"/>
                <a:ea typeface="Microsoft YaHei" pitchFamily="34" charset="-122"/>
              </a:rPr>
              <a:t>核心定位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830307" y="1191091"/>
            <a:ext cx="36385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专为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CLR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项目中价格配置、费率表、计费规则设计的对比工具。</a:t>
            </a:r>
            <a:endParaRPr lang="en-US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830306" y="1438741"/>
            <a:ext cx="261278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自动检测变更，减少人工遗漏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、偏差</a:t>
            </a:r>
            <a:r>
              <a:rPr lang="en-US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563482" y="1886416"/>
            <a:ext cx="8477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zh-CN" altLang="en-US" sz="1200" b="1" dirty="0">
                <a:solidFill>
                  <a:srgbClr val="95A5BD"/>
                </a:solidFill>
                <a:latin typeface="Microsoft YaHei" pitchFamily="34" charset="0"/>
                <a:ea typeface="Microsoft YaHei" pitchFamily="34" charset="-122"/>
              </a:rPr>
              <a:t>优势对比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30307" y="1781641"/>
            <a:ext cx="3725407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理解价格业务语义，自定义过滤数据，客制化对比差异性。</a:t>
            </a:r>
            <a:endParaRPr lang="en-US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830307" y="2029291"/>
            <a:ext cx="2790825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自动生成评估报表。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563482" y="2476966"/>
            <a:ext cx="8477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zh-CN" altLang="en-US" sz="1200" b="1" dirty="0">
                <a:solidFill>
                  <a:srgbClr val="AD8E8E"/>
                </a:solidFill>
                <a:latin typeface="Microsoft YaHei" pitchFamily="34" charset="0"/>
                <a:ea typeface="Microsoft YaHei" pitchFamily="34" charset="-122"/>
              </a:rPr>
              <a:t>解决痛点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30307" y="2372191"/>
            <a:ext cx="3354532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文件数据量大，多个渠道的定价规则。</a:t>
            </a:r>
            <a:endParaRPr lang="en-US" altLang="zh-CN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830307" y="2619841"/>
            <a:ext cx="2874286" cy="2467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计费精度要求不一致，多环境一致性检查。</a:t>
            </a:r>
            <a:endParaRPr lang="en-US" altLang="zh-CN" sz="1050" dirty="0"/>
          </a:p>
        </p:txBody>
      </p:sp>
      <p:sp>
        <p:nvSpPr>
          <p:cNvPr id="17" name="Text 13"/>
          <p:cNvSpPr/>
          <p:nvPr/>
        </p:nvSpPr>
        <p:spPr>
          <a:xfrm>
            <a:off x="3563482" y="3067516"/>
            <a:ext cx="8477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zh-CN" altLang="en-US" sz="1200" b="1" dirty="0">
                <a:solidFill>
                  <a:srgbClr val="95A5BD"/>
                </a:solidFill>
                <a:latin typeface="Microsoft YaHei" pitchFamily="34" charset="0"/>
                <a:ea typeface="Microsoft YaHei" pitchFamily="34" charset="-122"/>
              </a:rPr>
              <a:t>技术实现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30306" y="2962741"/>
            <a:ext cx="3789353" cy="219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生成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Excel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对比报告，带差异标签。</a:t>
            </a:r>
            <a:endParaRPr lang="en-US" altLang="zh-CN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830306" y="3210391"/>
            <a:ext cx="3175489" cy="219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重写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Diff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算法，基于业务主键对齐而非行号。</a:t>
            </a:r>
            <a:endParaRPr lang="en-US" altLang="zh-CN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3563482" y="3658066"/>
            <a:ext cx="8477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zh-CN" altLang="en-US" sz="1200" b="1" dirty="0">
                <a:solidFill>
                  <a:srgbClr val="AD8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功能迭代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30306" y="3553291"/>
            <a:ext cx="3853297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altLang="zh-CN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项目组内部</a:t>
            </a:r>
            <a:r>
              <a:rPr lang="en-US" altLang="zh-CN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反馈优化工具功能体验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，且已形成内部维护库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altLang="zh-CN" sz="1050" dirty="0"/>
          </a:p>
        </p:txBody>
      </p:sp>
      <p:sp>
        <p:nvSpPr>
          <p:cNvPr id="22" name="Text 18"/>
          <p:cNvSpPr/>
          <p:nvPr/>
        </p:nvSpPr>
        <p:spPr>
          <a:xfrm>
            <a:off x="4830307" y="3800941"/>
            <a:ext cx="21717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altLang="zh-CN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逐步扩展适用场景，增强通用性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altLang="zh-CN" sz="1050" dirty="0"/>
          </a:p>
        </p:txBody>
      </p:sp>
      <p:sp>
        <p:nvSpPr>
          <p:cNvPr id="23" name="Text 19"/>
          <p:cNvSpPr/>
          <p:nvPr/>
        </p:nvSpPr>
        <p:spPr>
          <a:xfrm>
            <a:off x="3563482" y="4248616"/>
            <a:ext cx="8477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zh-CN" altLang="en-US" sz="1200" b="1" dirty="0">
                <a:solidFill>
                  <a:srgbClr val="95A5BD"/>
                </a:solidFill>
                <a:latin typeface="Microsoft YaHei" pitchFamily="34" charset="0"/>
                <a:ea typeface="Microsoft YaHei" pitchFamily="34" charset="-122"/>
              </a:rPr>
              <a:t>测试集成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30307" y="4143841"/>
            <a:ext cx="217170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测试人员可生成环境同步文档截图。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830307" y="4391491"/>
            <a:ext cx="261278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部署前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Azure </a:t>
            </a:r>
            <a:r>
              <a:rPr lang="en-US" altLang="zh-CN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Pipline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校验，发布风险邮件。</a:t>
            </a:r>
            <a:endParaRPr lang="en-US" sz="105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567C20F0-C976-C23D-3A41-4C8025CD6EFE}"/>
              </a:ext>
            </a:extLst>
          </p:cNvPr>
          <p:cNvSpPr/>
          <p:nvPr/>
        </p:nvSpPr>
        <p:spPr>
          <a:xfrm>
            <a:off x="443593" y="337671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F21F5E9D-E6F3-8150-9810-D0B4586AB1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2429" y="80411"/>
            <a:ext cx="958214" cy="538714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66F8F296-D1C1-A3D2-FEDC-9C5DFC34A68D}"/>
              </a:ext>
            </a:extLst>
          </p:cNvPr>
          <p:cNvSpPr txBox="1"/>
          <p:nvPr/>
        </p:nvSpPr>
        <p:spPr>
          <a:xfrm>
            <a:off x="6824429" y="4747329"/>
            <a:ext cx="3718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Information Classification: Limited Access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9509" y="4000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150"/>
              </a:lnSpc>
            </a:pP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技术好奇心驱动持续进化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000" y="2000250"/>
            <a:ext cx="8382000" cy="19431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8675" y="2226469"/>
            <a:ext cx="1643063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95A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9" name="Text 4"/>
          <p:cNvSpPr/>
          <p:nvPr/>
        </p:nvSpPr>
        <p:spPr>
          <a:xfrm>
            <a:off x="771525" y="2693194"/>
            <a:ext cx="1700213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zh-CN" altLang="en-US" sz="1200" b="1" dirty="0">
                <a:solidFill>
                  <a:schemeClr val="accent6">
                    <a:lumMod val="75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从无到有</a:t>
            </a:r>
            <a:r>
              <a:rPr lang="en-US" altLang="zh-CN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部署AKS平台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71525" y="2945606"/>
            <a:ext cx="1700213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650"/>
              </a:lnSpc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自学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AKS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，配置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Azure Pipeline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，实现代码自动部署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,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接入</a:t>
            </a:r>
            <a:r>
              <a:rPr lang="en-US" altLang="zh-CN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ConfigMap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 + Key Vault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，敏感信息零泄露</a:t>
            </a:r>
            <a:endParaRPr lang="en-US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795588" y="2226469"/>
            <a:ext cx="1643063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AD8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2" name="Text 7"/>
          <p:cNvSpPr/>
          <p:nvPr/>
        </p:nvSpPr>
        <p:spPr>
          <a:xfrm>
            <a:off x="2738438" y="2693194"/>
            <a:ext cx="1700213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zh-CN" alt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追求极致</a:t>
            </a:r>
            <a:r>
              <a:rPr lang="en-US" altLang="zh-CN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保障高可用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738438" y="2945606"/>
            <a:ext cx="1700213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配置多可用区部署，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分散在不同节点，存活探针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+Liveness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自动重启。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762500" y="2226469"/>
            <a:ext cx="1643063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95A5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5" name="Text 10"/>
          <p:cNvSpPr/>
          <p:nvPr/>
        </p:nvSpPr>
        <p:spPr>
          <a:xfrm>
            <a:off x="4705350" y="2693195"/>
            <a:ext cx="1806484" cy="2524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看的更清 </a:t>
            </a: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可观测性建设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705350" y="2945606"/>
            <a:ext cx="1700213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结构化日志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r>
              <a:rPr lang="en-US" altLang="zh-CN" sz="1050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traceId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729413" y="2226469"/>
            <a:ext cx="1643063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AD8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18" name="Text 13"/>
          <p:cNvSpPr/>
          <p:nvPr/>
        </p:nvSpPr>
        <p:spPr>
          <a:xfrm>
            <a:off x="6672263" y="2693194"/>
            <a:ext cx="1700213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zh-CN" altLang="en-US" sz="12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故障演练 </a:t>
            </a: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灾前预演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672263" y="2945606"/>
            <a:ext cx="1700213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模拟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pod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故障，节点下线，数据库连接中断，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CPU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飙升，验证系统高可用与风险预警。</a:t>
            </a:r>
            <a:endParaRPr lang="en-US" sz="105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714F9EFC-4D82-B1CE-5F7D-257D45233564}"/>
              </a:ext>
            </a:extLst>
          </p:cNvPr>
          <p:cNvSpPr/>
          <p:nvPr/>
        </p:nvSpPr>
        <p:spPr>
          <a:xfrm>
            <a:off x="507547" y="449673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8D71AA3D-D0CD-7E7B-554C-EC65F50A21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2429" y="80411"/>
            <a:ext cx="958214" cy="538714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1F19500B-589A-FBAE-6A58-7FE5ECD5D33D}"/>
              </a:ext>
            </a:extLst>
          </p:cNvPr>
          <p:cNvSpPr txBox="1"/>
          <p:nvPr/>
        </p:nvSpPr>
        <p:spPr>
          <a:xfrm>
            <a:off x="6713326" y="4628034"/>
            <a:ext cx="3718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Information Classification: Limited Access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972" y="444944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总结与未来展望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质量维度</a:t>
            </a:r>
            <a:endParaRPr lang="en-US" sz="1200" b="1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- 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全流程质量保障体系</a:t>
            </a:r>
            <a:endParaRPr lang="en-US" altLang="zh-CN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ts val="1650"/>
              </a:lnSpc>
            </a:pP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- </a:t>
            </a:r>
            <a:r>
              <a:rPr lang="en-US" altLang="zh-CN" sz="105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sz="105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</a:rPr>
              <a:t>赋能质量</a:t>
            </a:r>
            <a:endParaRPr lang="en-US" sz="1050" dirty="0">
              <a:solidFill>
                <a:schemeClr val="accent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3365500" y="200025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技术维度</a:t>
            </a:r>
            <a:endParaRPr lang="en-US" sz="1200" b="1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3365500" y="2247900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- 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云原生架构落地实践</a:t>
            </a:r>
            <a:endParaRPr lang="en-US" altLang="zh-CN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ts val="1650"/>
              </a:lnSpc>
            </a:pP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- </a:t>
            </a:r>
            <a:r>
              <a:rPr lang="en-US" altLang="zh-CN" sz="105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</a:rPr>
              <a:t>FinOps + </a:t>
            </a:r>
            <a:r>
              <a:rPr lang="zh-CN" altLang="en-US" sz="105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</a:rPr>
              <a:t>多集群容灾</a:t>
            </a:r>
            <a:endParaRPr lang="en-US" sz="1050" dirty="0">
              <a:solidFill>
                <a:schemeClr val="accent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59500" y="200025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</a:t>
            </a:r>
            <a:r>
              <a:rPr lang="en-US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59500" y="2247900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- 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个人成长与团队赋能</a:t>
            </a:r>
            <a:endParaRPr lang="en-US" altLang="zh-CN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  <a:p>
            <a:pPr>
              <a:lnSpc>
                <a:spcPts val="1650"/>
              </a:lnSpc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- </a:t>
            </a:r>
            <a:r>
              <a:rPr lang="zh-CN" altLang="en-US" sz="105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</a:rPr>
              <a:t>技术输出</a:t>
            </a:r>
            <a:endParaRPr lang="en-US" sz="1050" dirty="0">
              <a:solidFill>
                <a:schemeClr val="accent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5152D17-6177-C219-2F1D-32BE6DDF8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429" y="80411"/>
            <a:ext cx="958214" cy="538714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E8851CB2-6859-575C-9371-08230BE68345}"/>
              </a:ext>
            </a:extLst>
          </p:cNvPr>
          <p:cNvSpPr/>
          <p:nvPr/>
        </p:nvSpPr>
        <p:spPr>
          <a:xfrm>
            <a:off x="507547" y="480813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75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A95DEB2-FEF3-89E0-FF28-45C31905F445}"/>
              </a:ext>
            </a:extLst>
          </p:cNvPr>
          <p:cNvSpPr txBox="1"/>
          <p:nvPr/>
        </p:nvSpPr>
        <p:spPr>
          <a:xfrm>
            <a:off x="6713326" y="4628034"/>
            <a:ext cx="3718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Information Classification: Limited Access</a:t>
            </a:r>
            <a:endParaRPr lang="zh-CN" alt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462337"/>
            <a:ext cx="8001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altLang="zh-CN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220336-</a:t>
            </a: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吴成伟 </a:t>
            </a: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SS-Alpha</a:t>
            </a:r>
            <a:endParaRPr lang="en-US" sz="1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036F461-F274-99E8-5E24-AEFC076DBCFE}"/>
              </a:ext>
            </a:extLst>
          </p:cNvPr>
          <p:cNvSpPr/>
          <p:nvPr/>
        </p:nvSpPr>
        <p:spPr>
          <a:xfrm>
            <a:off x="571500" y="3800474"/>
            <a:ext cx="800100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2026.3</a:t>
            </a:r>
            <a:endParaRPr lang="en-US" sz="12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1D185C5-8D02-8FE4-3EE4-621DAABEE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429" y="80411"/>
            <a:ext cx="958214" cy="53871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4D3E648-85A1-FC57-6FCB-552F707E983C}"/>
              </a:ext>
            </a:extLst>
          </p:cNvPr>
          <p:cNvSpPr txBox="1"/>
          <p:nvPr/>
        </p:nvSpPr>
        <p:spPr>
          <a:xfrm>
            <a:off x="6825624" y="4724701"/>
            <a:ext cx="3718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Information Classification: Limited Access</a:t>
            </a:r>
            <a:endParaRPr lang="zh-CN" alt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730</Words>
  <Application>Microsoft Office PowerPoint</Application>
  <PresentationFormat>全屏显示(16:9)</PresentationFormat>
  <Paragraphs>155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成伟 吴</cp:lastModifiedBy>
  <cp:revision>173</cp:revision>
  <dcterms:created xsi:type="dcterms:W3CDTF">2026-03-18T12:06:23Z</dcterms:created>
  <dcterms:modified xsi:type="dcterms:W3CDTF">2026-03-18T17:27:33Z</dcterms:modified>
</cp:coreProperties>
</file>